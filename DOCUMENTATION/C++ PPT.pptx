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SemiBold"/>
      <p:regular r:id="rId12"/>
      <p:bold r:id="rId13"/>
      <p:italic r:id="rId14"/>
      <p:boldItalic r:id="rId15"/>
    </p:embeddedFont>
    <p:embeddedFont>
      <p:font typeface="Roboto SemiBold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RobotoMonoSemiBold-bold.fntdata"/><Relationship Id="rId12" Type="http://schemas.openxmlformats.org/officeDocument/2006/relationships/font" Target="fonts/RobotoMonoSemiBold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SemiBold-boldItalic.fntdata"/><Relationship Id="rId14" Type="http://schemas.openxmlformats.org/officeDocument/2006/relationships/font" Target="fonts/RobotoMonoSemiBold-italic.fntdata"/><Relationship Id="rId17" Type="http://schemas.openxmlformats.org/officeDocument/2006/relationships/font" Target="fonts/RobotoSemiBold-bold.fntdata"/><Relationship Id="rId16" Type="http://schemas.openxmlformats.org/officeDocument/2006/relationships/font" Target="fonts/Roboto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eee6ffc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eeee6ffc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eee6ffc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eee6ffc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eee6ffc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eee6ffc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eee6ffc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eee6ffc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eeee6ffc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eeee6ffc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eee6ffc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eeee6ffc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26613" y="2522875"/>
            <a:ext cx="8890800" cy="14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Digital Notice Board System (C++)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By Shankar Mupanna</a:t>
            </a:r>
            <a:endParaRPr b="1" sz="1732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  <a:latin typeface="Roboto Mono"/>
                <a:ea typeface="Roboto Mono"/>
                <a:cs typeface="Roboto Mono"/>
                <a:sym typeface="Roboto Mono"/>
              </a:rPr>
              <a:t>Problem Statement</a:t>
            </a:r>
            <a:endParaRPr b="1">
              <a:solidFill>
                <a:srgbClr val="A81B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Traditional notice boards require manual updates and can become messy when many notices are displayed.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Problems include: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•</a:t>
            </a: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Difficult to manage multiple notices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Time-consuming updates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No organized storage of information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Hard to remove or modify notices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Objective: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To develop a Digital Notice Board System using C++ that allows users to add, delete, and view notices dynamically through a simple console interface.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</a:rPr>
              <a:t>My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The proposed solution is a menu-driven C++ application that manages notices digitally.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Key Features: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• Add new notices with title and description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Delete existing notices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Display all notices in an organized format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Simple user interaction through menu system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Technologies Used: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• Programming Language: C++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Concepts: Classes, Arrays, Loops, Functions, Conditionals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Object-Oriented Programming approach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-73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  <a:latin typeface="Roboto Mono"/>
                <a:ea typeface="Roboto Mono"/>
                <a:cs typeface="Roboto Mono"/>
                <a:sym typeface="Roboto Mono"/>
              </a:rPr>
              <a:t>Working (Method / Mind Map)</a:t>
            </a:r>
            <a:endParaRPr b="1">
              <a:solidFill>
                <a:srgbClr val="A81B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5" name="Google Shape;75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037" y="3805925"/>
            <a:ext cx="880488" cy="91531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952278" y="976878"/>
            <a:ext cx="918900" cy="42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87675" lIns="87675" spcFirstLastPara="1" rIns="87675" wrap="square" tIns="8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6">
                <a:solidFill>
                  <a:schemeClr val="dk2"/>
                </a:solidFill>
              </a:rPr>
              <a:t>USER</a:t>
            </a:r>
            <a:endParaRPr sz="1726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052701" y="410700"/>
            <a:ext cx="5261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75" lIns="87675" spcFirstLastPara="1" rIns="87675" wrap="square" tIns="8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26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NOTICE BOARD MANAGEMENT SYSTEM</a:t>
            </a:r>
            <a:endParaRPr b="1" sz="1726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646921" y="976130"/>
            <a:ext cx="1416000" cy="428100"/>
          </a:xfrm>
          <a:prstGeom prst="roundRect">
            <a:avLst>
              <a:gd fmla="val 31867" name="adj"/>
            </a:avLst>
          </a:prstGeom>
          <a:solidFill>
            <a:srgbClr val="00FFFF"/>
          </a:solidFill>
          <a:ln cap="flat" cmpd="sng" w="91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391434" y="1804910"/>
            <a:ext cx="1922400" cy="360900"/>
          </a:xfrm>
          <a:prstGeom prst="roundRect">
            <a:avLst>
              <a:gd fmla="val 24986" name="adj"/>
            </a:avLst>
          </a:prstGeom>
          <a:solidFill>
            <a:srgbClr val="CFE2F3"/>
          </a:solidFill>
          <a:ln cap="flat" cmpd="sng" w="9125">
            <a:solidFill>
              <a:srgbClr val="C8F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DISPLAY MENU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346751" y="1896275"/>
            <a:ext cx="735600" cy="17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F2D2"/>
          </a:solidFill>
          <a:ln cap="flat" cmpd="sng" w="9125">
            <a:solidFill>
              <a:srgbClr val="C8F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1" name="Google Shape;81;p16"/>
          <p:cNvSpPr/>
          <p:nvPr/>
        </p:nvSpPr>
        <p:spPr>
          <a:xfrm rot="10800000">
            <a:off x="2708501" y="1896050"/>
            <a:ext cx="650100" cy="17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6BDE8"/>
          </a:solidFill>
          <a:ln cap="flat" cmpd="sng" w="9125">
            <a:solidFill>
              <a:srgbClr val="46B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2" name="Google Shape;82;p16"/>
          <p:cNvSpPr/>
          <p:nvPr/>
        </p:nvSpPr>
        <p:spPr>
          <a:xfrm rot="5400000">
            <a:off x="4171872" y="2312118"/>
            <a:ext cx="369600" cy="15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3" name="Google Shape;83;p16"/>
          <p:cNvSpPr/>
          <p:nvPr/>
        </p:nvSpPr>
        <p:spPr>
          <a:xfrm rot="5400000">
            <a:off x="4167845" y="1527005"/>
            <a:ext cx="369600" cy="15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6BDE8"/>
          </a:solidFill>
          <a:ln cap="flat" cmpd="sng" w="9125">
            <a:solidFill>
              <a:srgbClr val="46B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4" name="Google Shape;84;p16"/>
          <p:cNvSpPr/>
          <p:nvPr/>
        </p:nvSpPr>
        <p:spPr>
          <a:xfrm>
            <a:off x="764050" y="1975650"/>
            <a:ext cx="2059500" cy="2902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812550" y="1804900"/>
            <a:ext cx="1818000" cy="378000"/>
          </a:xfrm>
          <a:prstGeom prst="roundRect">
            <a:avLst>
              <a:gd fmla="val 32635" name="adj"/>
            </a:avLst>
          </a:prstGeom>
          <a:solidFill>
            <a:srgbClr val="6D9EEB"/>
          </a:solidFill>
          <a:ln cap="flat" cmpd="sng" w="91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ADD NOTICE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812550" y="2933820"/>
            <a:ext cx="1818000" cy="5979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 cap="flat" cmpd="sng" w="91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/>
              <a:t>User enters Title + Description</a:t>
            </a:r>
            <a:endParaRPr sz="1342"/>
          </a:p>
        </p:txBody>
      </p:sp>
      <p:sp>
        <p:nvSpPr>
          <p:cNvPr id="87" name="Google Shape;87;p16"/>
          <p:cNvSpPr/>
          <p:nvPr/>
        </p:nvSpPr>
        <p:spPr>
          <a:xfrm rot="5400000">
            <a:off x="1460725" y="2463593"/>
            <a:ext cx="668100" cy="189300"/>
          </a:xfrm>
          <a:prstGeom prst="rightArrow">
            <a:avLst>
              <a:gd fmla="val 44245" name="adj1"/>
              <a:gd fmla="val 50000" name="adj2"/>
            </a:avLst>
          </a:prstGeom>
          <a:solidFill>
            <a:srgbClr val="46BDE8"/>
          </a:solidFill>
          <a:ln cap="flat" cmpd="sng" w="9125">
            <a:solidFill>
              <a:srgbClr val="46B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8" name="Google Shape;88;p16"/>
          <p:cNvSpPr/>
          <p:nvPr/>
        </p:nvSpPr>
        <p:spPr>
          <a:xfrm rot="5400000">
            <a:off x="1492750" y="3780906"/>
            <a:ext cx="602100" cy="186900"/>
          </a:xfrm>
          <a:prstGeom prst="rightArrow">
            <a:avLst>
              <a:gd fmla="val 44245" name="adj1"/>
              <a:gd fmla="val 50000" name="adj2"/>
            </a:avLst>
          </a:prstGeom>
          <a:solidFill>
            <a:srgbClr val="348BAB"/>
          </a:solidFill>
          <a:ln cap="flat" cmpd="sng" w="9125">
            <a:solidFill>
              <a:srgbClr val="348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89" name="Google Shape;89;p16"/>
          <p:cNvSpPr/>
          <p:nvPr/>
        </p:nvSpPr>
        <p:spPr>
          <a:xfrm>
            <a:off x="2089651" y="3613943"/>
            <a:ext cx="540900" cy="186600"/>
          </a:xfrm>
          <a:prstGeom prst="flowChartConnector">
            <a:avLst/>
          </a:prstGeom>
          <a:solidFill>
            <a:srgbClr val="C9DAF8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90" name="Google Shape;90;p16"/>
          <p:cNvSpPr/>
          <p:nvPr/>
        </p:nvSpPr>
        <p:spPr>
          <a:xfrm>
            <a:off x="2089651" y="3992712"/>
            <a:ext cx="540900" cy="186600"/>
          </a:xfrm>
          <a:prstGeom prst="flowChartConnector">
            <a:avLst/>
          </a:prstGeom>
          <a:solidFill>
            <a:srgbClr val="C9DAF8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cxnSp>
        <p:nvCxnSpPr>
          <p:cNvPr id="91" name="Google Shape;91;p16"/>
          <p:cNvCxnSpPr>
            <a:stCxn id="89" idx="2"/>
            <a:endCxn id="90" idx="2"/>
          </p:cNvCxnSpPr>
          <p:nvPr/>
        </p:nvCxnSpPr>
        <p:spPr>
          <a:xfrm>
            <a:off x="2089651" y="3707243"/>
            <a:ext cx="0" cy="378900"/>
          </a:xfrm>
          <a:prstGeom prst="straightConnector1">
            <a:avLst/>
          </a:prstGeom>
          <a:noFill/>
          <a:ln cap="flat" cmpd="sng" w="9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>
            <a:stCxn id="89" idx="6"/>
            <a:endCxn id="90" idx="6"/>
          </p:cNvCxnSpPr>
          <p:nvPr/>
        </p:nvCxnSpPr>
        <p:spPr>
          <a:xfrm>
            <a:off x="2630551" y="3707243"/>
            <a:ext cx="0" cy="378900"/>
          </a:xfrm>
          <a:prstGeom prst="straightConnector1">
            <a:avLst/>
          </a:prstGeom>
          <a:noFill/>
          <a:ln cap="flat" cmpd="sng" w="9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/>
          <p:nvPr/>
        </p:nvSpPr>
        <p:spPr>
          <a:xfrm>
            <a:off x="812560" y="4235875"/>
            <a:ext cx="1818000" cy="5979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 cap="flat" cmpd="sng" w="91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42"/>
              <a:t>Stored in Array</a:t>
            </a:r>
            <a:endParaRPr sz="134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/>
              <a:t>(notices[100])</a:t>
            </a:r>
            <a:endParaRPr sz="1342"/>
          </a:p>
        </p:txBody>
      </p:sp>
      <p:sp>
        <p:nvSpPr>
          <p:cNvPr id="94" name="Google Shape;94;p16"/>
          <p:cNvSpPr/>
          <p:nvPr/>
        </p:nvSpPr>
        <p:spPr>
          <a:xfrm>
            <a:off x="3350900" y="2870546"/>
            <a:ext cx="2059500" cy="2007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546125" y="2614450"/>
            <a:ext cx="1680600" cy="4008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1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DELETE NOTICE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6"/>
          <p:cNvSpPr/>
          <p:nvPr/>
        </p:nvSpPr>
        <p:spPr>
          <a:xfrm rot="5400000">
            <a:off x="4182688" y="3194881"/>
            <a:ext cx="410400" cy="13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5F06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97" name="Google Shape;97;p16"/>
          <p:cNvSpPr/>
          <p:nvPr/>
        </p:nvSpPr>
        <p:spPr>
          <a:xfrm>
            <a:off x="3547645" y="3511372"/>
            <a:ext cx="1680600" cy="633900"/>
          </a:xfrm>
          <a:prstGeom prst="roundRect">
            <a:avLst>
              <a:gd fmla="val 50000" name="adj"/>
            </a:avLst>
          </a:prstGeom>
          <a:solidFill>
            <a:srgbClr val="FFE599"/>
          </a:solidFill>
          <a:ln cap="flat" cmpd="sng" w="91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/>
              <a:t>Select Notice Number</a:t>
            </a:r>
            <a:endParaRPr sz="1342"/>
          </a:p>
        </p:txBody>
      </p:sp>
      <p:sp>
        <p:nvSpPr>
          <p:cNvPr id="98" name="Google Shape;98;p16"/>
          <p:cNvSpPr/>
          <p:nvPr/>
        </p:nvSpPr>
        <p:spPr>
          <a:xfrm>
            <a:off x="3540350" y="4360450"/>
            <a:ext cx="1680600" cy="428100"/>
          </a:xfrm>
          <a:prstGeom prst="roundRect">
            <a:avLst>
              <a:gd fmla="val 50000" name="adj"/>
            </a:avLst>
          </a:prstGeom>
          <a:solidFill>
            <a:srgbClr val="FFE599"/>
          </a:solidFill>
          <a:ln cap="flat" cmpd="sng" w="91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42"/>
              <a:t>Array Shifting</a:t>
            </a:r>
            <a:endParaRPr sz="124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42"/>
              <a:t>(Remove Notice)</a:t>
            </a:r>
            <a:endParaRPr sz="124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99" name="Google Shape;99;p16"/>
          <p:cNvSpPr/>
          <p:nvPr/>
        </p:nvSpPr>
        <p:spPr>
          <a:xfrm rot="5400000">
            <a:off x="4322476" y="4204279"/>
            <a:ext cx="166800" cy="14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5F06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100" name="Google Shape;100;p16"/>
          <p:cNvSpPr/>
          <p:nvPr/>
        </p:nvSpPr>
        <p:spPr>
          <a:xfrm>
            <a:off x="6115275" y="2074246"/>
            <a:ext cx="2059500" cy="2007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96F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328575" y="1895975"/>
            <a:ext cx="1632900" cy="385500"/>
          </a:xfrm>
          <a:prstGeom prst="roundRect">
            <a:avLst>
              <a:gd fmla="val 28807" name="adj"/>
            </a:avLst>
          </a:prstGeom>
          <a:solidFill>
            <a:srgbClr val="B6D7A8"/>
          </a:solidFill>
          <a:ln cap="flat" cmpd="sng" w="9125">
            <a:solidFill>
              <a:srgbClr val="96F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VIEW NOTICE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328575" y="3047575"/>
            <a:ext cx="1680600" cy="609600"/>
          </a:xfrm>
          <a:prstGeom prst="roundRect">
            <a:avLst>
              <a:gd fmla="val 50000" name="adj"/>
            </a:avLst>
          </a:prstGeom>
          <a:solidFill>
            <a:srgbClr val="C8F2D2"/>
          </a:solidFill>
          <a:ln cap="flat" cmpd="sng" w="91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latin typeface="Roboto Mono"/>
                <a:ea typeface="Roboto Mono"/>
                <a:cs typeface="Roboto Mono"/>
                <a:sym typeface="Roboto Mono"/>
              </a:rPr>
              <a:t>Loop displays all notices</a:t>
            </a:r>
            <a:endParaRPr sz="1342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6"/>
          <p:cNvSpPr/>
          <p:nvPr/>
        </p:nvSpPr>
        <p:spPr>
          <a:xfrm rot="5400000">
            <a:off x="6828224" y="2579481"/>
            <a:ext cx="681300" cy="170100"/>
          </a:xfrm>
          <a:prstGeom prst="rightArrow">
            <a:avLst>
              <a:gd fmla="val 44245" name="adj1"/>
              <a:gd fmla="val 50000" name="adj2"/>
            </a:avLst>
          </a:prstGeom>
          <a:solidFill>
            <a:schemeClr val="lt2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2"/>
          </a:p>
        </p:txBody>
      </p:sp>
      <p:sp>
        <p:nvSpPr>
          <p:cNvPr id="104" name="Google Shape;104;p16"/>
          <p:cNvSpPr/>
          <p:nvPr/>
        </p:nvSpPr>
        <p:spPr>
          <a:xfrm rot="-4382358">
            <a:off x="5443428" y="1923137"/>
            <a:ext cx="409303" cy="1098744"/>
          </a:xfrm>
          <a:prstGeom prst="bentArrow">
            <a:avLst>
              <a:gd fmla="val 25000" name="adj1"/>
              <a:gd fmla="val 25000" name="adj2"/>
              <a:gd fmla="val 25000" name="adj3"/>
              <a:gd fmla="val 0" name="adj4"/>
            </a:avLst>
          </a:prstGeom>
          <a:solidFill>
            <a:srgbClr val="C8F2D2"/>
          </a:solidFill>
          <a:ln cap="flat" cmpd="sng" w="9525">
            <a:solidFill>
              <a:srgbClr val="C8F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 flipH="1" rot="4200783">
            <a:off x="3138478" y="1923154"/>
            <a:ext cx="381795" cy="1098507"/>
          </a:xfrm>
          <a:prstGeom prst="bentArrow">
            <a:avLst>
              <a:gd fmla="val 25000" name="adj1"/>
              <a:gd fmla="val 25000" name="adj2"/>
              <a:gd fmla="val 25000" name="adj3"/>
              <a:gd fmla="val 15977" name="adj4"/>
            </a:avLst>
          </a:prstGeom>
          <a:solidFill>
            <a:srgbClr val="46BDE8"/>
          </a:solidFill>
          <a:ln cap="flat" cmpd="sng" w="9525">
            <a:solidFill>
              <a:srgbClr val="46B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152475"/>
            <a:ext cx="8520600" cy="3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The Digital Notice Board System demonstrates how programming concepts can be used to manage information effectively.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Achievements: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• Implemented a menu-driven system in C++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Managed notices using classes and arrays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Enabled dynamic addition and deletion of notices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Future Improvements: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• Store notices in files or database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Add graphical user interface (GUI)</a:t>
            </a:r>
            <a:b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</a:b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• Develop a web-based notice board system</a:t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12" name="Google Shape;112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18" name="Google Shape;118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